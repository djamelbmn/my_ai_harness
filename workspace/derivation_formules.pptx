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à la Dérivation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La notion de dérivée formalise la vitesse instantanée de variation d’une fonction.</a:t>
                </a:r>
              </a:p>
              <a:p>
                <a:pPr lvl="0"/>
                <a:r>
                  <a:rPr/>
                  <a:t>Elle correspond géométriquement à la pente de la tangente à la courbe en un point.</a:t>
                </a:r>
              </a:p>
              <a:p>
                <a:pPr lvl="0"/>
                <a:r>
                  <a:rPr b="1"/>
                  <a:t>Définition formelle 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lim</m:t>
                          </m:r>
                        </m:e>
                        <m:lim>
                          <m:r>
                            <m:t>h</m:t>
                          </m:r>
                          <m:r>
                            <m:rPr>
                              <m:sty m:val="p"/>
                            </m:rPr>
                            <m:t>→</m:t>
                          </m:r>
                          <m:r>
                            <m:t>0</m:t>
                          </m:r>
                        </m:lim>
                      </m:limLow>
                      <m:f>
                        <m:fPr>
                          <m:type m:val="bar"/>
                        </m:fPr>
                        <m:num>
                          <m:r>
                            <m:t>f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h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f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h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Exemple fondamental : Pour 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x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Dérivées des Fonctions Usuelles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Fonction constante (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</m:oMath>
                </a14:m>
                <a:r>
                  <a:rPr b="1"/>
                  <a:t>) 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  <a:p>
                <a:pPr lvl="0"/>
                <a:r>
                  <a:rPr b="1"/>
                  <a:t>Fonction affine (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p</m:t>
                    </m:r>
                  </m:oMath>
                </a14:m>
                <a:r>
                  <a:rPr b="1"/>
                  <a:t>) 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</m:oMath>
                </a14:m>
              </a:p>
              <a:p>
                <a:pPr lvl="0"/>
                <a:r>
                  <a:rPr b="1"/>
                  <a:t>Fonction puissance (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n</m:t>
                        </m:r>
                      </m:sup>
                    </m:sSup>
                  </m:oMath>
                </a14:m>
                <a:r>
                  <a:rPr b="1"/>
                  <a:t>) 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a:p>
              <a:p>
                <a:pPr lvl="0"/>
                <a:r>
                  <a:rPr b="1"/>
                  <a:t>Fonction inverse (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</m:oMath>
                </a14:m>
                <a:r>
                  <a:rPr b="1"/>
                  <a:t>) 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lvl="0"/>
                <a:r>
                  <a:rPr b="1"/>
                  <a:t>Fonction exponentielle (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  <a:r>
                  <a:rPr b="1"/>
                  <a:t>) 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Opérations sur les Dérivées (1/2)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Somme 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u</m:t>
                    </m:r>
                    <m:r>
                      <m:rPr>
                        <m:sty m:val="p"/>
                      </m:rPr>
                      <m:t>+</m:t>
                    </m:r>
                    <m:r>
                      <m:t>v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sSup>
                      <m:e>
                        <m: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</a:p>
              <a:p>
                <a:pPr lvl="1"/>
                <a:r>
                  <a:rPr i="1"/>
                  <a:t>Exemple 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</a:p>
              <a:p>
                <a:pPr lvl="0"/>
                <a:r>
                  <a:rPr b="1"/>
                  <a:t>Produit par une constante 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k</m:t>
                    </m:r>
                    <m:r>
                      <m:rPr>
                        <m:sty m:val="p"/>
                      </m:rPr>
                      <m:t>⋅</m:t>
                    </m:r>
                    <m:r>
                      <m:t>u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k</m:t>
                    </m:r>
                    <m:r>
                      <m:rPr>
                        <m:sty m:val="p"/>
                      </m:rPr>
                      <m:t>⋅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</a:p>
              <a:p>
                <a:pPr lvl="1"/>
                <a:r>
                  <a:rPr i="1"/>
                  <a:t>Exemple 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15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0"/>
                <a:r>
                  <a:rPr b="1"/>
                  <a:t>Produit 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u</m:t>
                    </m:r>
                    <m:r>
                      <m:rPr>
                        <m:sty m:val="p"/>
                      </m:rPr>
                      <m:t>⋅</m:t>
                    </m:r>
                    <m:r>
                      <m:t>v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t>v</m:t>
                    </m:r>
                    <m:r>
                      <m:rPr>
                        <m:sty m:val="p"/>
                      </m:rPr>
                      <m:t>+</m:t>
                    </m:r>
                    <m:r>
                      <m:t>u</m:t>
                    </m:r>
                    <m:sSup>
                      <m:e>
                        <m: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</a:p>
              <a:p>
                <a:pPr lvl="1"/>
                <a:r>
                  <a:rPr i="1"/>
                  <a:t>Exemple 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⋅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Opérations sur les Dérivées (2/2)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Inverse 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r>
                                  <m:t>v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v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v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lvl="1"/>
                <a:r>
                  <a:rPr i="1"/>
                  <a:t>Exemple 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sSup>
                          <m:e>
                            <m:r>
                              <m:t>x</m:t>
                            </m:r>
                          </m:e>
                          <m:sup>
                            <m:r>
                              <m:t>3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lvl="0"/>
                <a:r>
                  <a:rPr b="1"/>
                  <a:t>Quotient 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m:t>u</m:t>
                                </m:r>
                              </m:num>
                              <m:den>
                                <m:r>
                                  <m:t>v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u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′</m:t>
                            </m:r>
                          </m:sup>
                        </m:sSup>
                        <m:r>
                          <m:t>v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u</m:t>
                        </m:r>
                        <m:sSup>
                          <m:e>
                            <m:r>
                              <m:t>v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v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</a:p>
              <a:p>
                <a:pPr lvl="1"/>
                <a:r>
                  <a:rPr i="1"/>
                  <a:t>Exemple :</a:t>
                </a:r>
                <a:r>
                  <a:rPr/>
                  <a:t> </a:t>
                </a:r>
                <a:r>
                  <a:rPr/>
                  <a:t>$\left(\oneov\right)$</a:t>
                </a:r>
                <a:r>
                  <a:rPr/>
                  <a:t> (voir applications)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Dérivation et Variations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Soit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une fonction dérivable sur un intervalle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Croissance :</a:t>
                </a:r>
                <a:r>
                  <a:rPr/>
                  <a:t> Si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≥</m:t>
                    </m:r>
                    <m:r>
                      <m:t>0</m:t>
                    </m:r>
                  </m:oMath>
                </a14:m>
                <a:r>
                  <a:rPr/>
                  <a:t> sur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, alors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est croissante.</a:t>
                </a:r>
              </a:p>
              <a:p>
                <a:pPr lvl="0"/>
                <a:r>
                  <a:rPr b="1"/>
                  <a:t>Décroissance :</a:t>
                </a:r>
                <a:r>
                  <a:rPr/>
                  <a:t> Si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≤</m:t>
                    </m:r>
                    <m:r>
                      <m:t>0</m:t>
                    </m:r>
                  </m:oMath>
                </a14:m>
                <a:r>
                  <a:rPr/>
                  <a:t> sur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, alors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est décroissante.</a:t>
                </a:r>
              </a:p>
              <a:p>
                <a:pPr lvl="0"/>
                <a:r>
                  <a:rPr b="1"/>
                  <a:t>Extremum local :</a:t>
                </a:r>
                <a:r>
                  <a:rPr/>
                  <a:t> Si </a:t>
                </a:r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  <a:r>
                  <a:rPr/>
                  <a:t> s’annule en changeant de signe,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 admet un extremum.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Applications et Synthèse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Étude de fonctions :</a:t>
                </a:r>
                <a:r>
                  <a:rPr/>
                  <a:t> Analyse complète du sens de variations et tracé de courbes.</a:t>
                </a:r>
              </a:p>
              <a:p>
                <a:pPr lvl="0"/>
                <a:r>
                  <a:rPr b="1"/>
                  <a:t>Optimisation :</a:t>
                </a:r>
                <a:r>
                  <a:rPr/>
                  <a:t> Résolution de problèmes de maximisation (bénéfice, rendement) et de minimisation (coûts).</a:t>
                </a:r>
              </a:p>
              <a:p>
                <a:pPr lvl="0"/>
                <a:r>
                  <a:rPr b="1"/>
                  <a:t>Physique :</a:t>
                </a:r>
                <a:r>
                  <a:rPr/>
                  <a:t> Lien fondamental entre position, vitesse (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 et accélération (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m:t>(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). 🎯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2026-10-30T03:06:07Z</dcterms:created>
  <dcterms:modified xsi:type="dcterms:W3CDTF">2026-10-30T03:06:07Z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