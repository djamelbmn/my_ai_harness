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Diapositive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Nombres Complexes : De l’Algèbre à la Géométrie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Diapositive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Diapositive 1 : Introduction et Forme Algébrique L’unité imaginaire </a:t>
                </a:r>
                <a14:m>
                  <m:oMath xmlns:m="http://schemas.openxmlformats.org/officeDocument/2006/math">
                    <m:r>
                      <m:t>i</m:t>
                    </m:r>
                  </m:oMath>
                </a14:m>
                <a:r>
                  <a:rPr/>
                  <a:t> : Définie par </a:t>
                </a:r>
                <a14:m>
                  <m:oMath xmlns:m="http://schemas.openxmlformats.org/officeDocument/2006/math">
                    <m:sSup>
                      <m:e>
                        <m:r>
                          <m:t>i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</m:oMath>
                </a14:m>
                <a:r>
                  <a:rPr/>
                  <a:t>. Forme algébrique : Tout nombre complexe </a:t>
                </a:r>
                <a14:m>
                  <m:oMath xmlns:m="http://schemas.openxmlformats.org/officeDocument/2006/math">
                    <m:r>
                      <m:t>z</m:t>
                    </m:r>
                  </m:oMath>
                </a14:m>
                <a:r>
                  <a:rPr/>
                  <a:t> s’écrit de manière unique sous la forme : </a:t>
                </a:r>
                <a14:m>
                  <m:oMath xmlns:m="http://schemas.openxmlformats.org/officeDocument/2006/math">
                    <m:r>
                      <m:t>z</m:t>
                    </m:r>
                    <m:r>
                      <m:rPr>
                        <m:sty m:val="p"/>
                      </m:rPr>
                      <m:t>=</m:t>
                    </m:r>
                    <m:r>
                      <m:t>a</m:t>
                    </m:r>
                    <m:r>
                      <m:rPr>
                        <m:sty m:val="p"/>
                      </m:rPr>
                      <m:t>+</m:t>
                    </m:r>
                    <m:r>
                      <m:t>i</m:t>
                    </m:r>
                    <m:r>
                      <m:t>b</m:t>
                    </m:r>
                  </m:oMath>
                </a14:m>
                <a:r>
                  <a:rPr/>
                  <a:t> où : </a:t>
                </a:r>
                <a14:m>
                  <m:oMath xmlns:m="http://schemas.openxmlformats.org/officeDocument/2006/math">
                    <m:r>
                      <m:t>a</m:t>
                    </m:r>
                  </m:oMath>
                </a14:m>
                <a:r>
                  <a:rPr/>
                  <a:t> est la partie réelle (notée </a:t>
                </a:r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Re</m:t>
                    </m:r>
                    <m:r>
                      <m:rPr>
                        <m:sty m:val="p"/>
                      </m:rPr>
                      <m:t>(</m:t>
                    </m:r>
                    <m:r>
                      <m:t>z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). </a:t>
                </a:r>
                <a14:m>
                  <m:oMath xmlns:m="http://schemas.openxmlformats.org/officeDocument/2006/math">
                    <m:r>
                      <m:t>b</m:t>
                    </m:r>
                  </m:oMath>
                </a14:m>
                <a:r>
                  <a:rPr/>
                  <a:t> est la partie imaginaire (notée </a:t>
                </a:r>
                <a14:m>
                  <m:oMath xmlns:m="http://schemas.openxmlformats.org/officeDocument/2006/math">
                    <m:r>
                      <m:rPr>
                        <m:nor/>
                        <m:sty m:val="p"/>
                      </m:rPr>
                      <m:t>Im</m:t>
                    </m:r>
                    <m:r>
                      <m:rPr>
                        <m:sty m:val="p"/>
                      </m:rPr>
                      <m:t>(</m:t>
                    </m:r>
                    <m:r>
                      <m:t>z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). Cas particuliers : - Si </a:t>
                </a:r>
                <a14:m>
                  <m:oMath xmlns:m="http://schemas.openxmlformats.org/officeDocument/2006/math">
                    <m:r>
                      <m:t>b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z</m:t>
                    </m:r>
                    <m:r>
                      <m:rPr>
                        <m:sty m:val="p"/>
                      </m:rPr>
                      <m:t>=</m:t>
                    </m:r>
                    <m:r>
                      <m:t>a</m:t>
                    </m:r>
                  </m:oMath>
                </a14:m>
                <a:r>
                  <a:rPr/>
                  <a:t> est un nombre réel (ex: </a:t>
                </a:r>
                <a14:m>
                  <m:oMath xmlns:m="http://schemas.openxmlformats.org/officeDocument/2006/math">
                    <m:r>
                      <m:t>z</m:t>
                    </m:r>
                    <m:r>
                      <m:rPr>
                        <m:sty m:val="p"/>
                      </m:rPr>
                      <m:t>=</m:t>
                    </m:r>
                    <m:r>
                      <m:t>5</m:t>
                    </m:r>
                  </m:oMath>
                </a14:m>
                <a:r>
                  <a:rPr/>
                  <a:t>). - Si </a:t>
                </a:r>
                <a14:m>
                  <m:oMath xmlns:m="http://schemas.openxmlformats.org/officeDocument/2006/math">
                    <m:r>
                      <m:t>a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 et </a:t>
                </a:r>
                <a14:m>
                  <m:oMath xmlns:m="http://schemas.openxmlformats.org/officeDocument/2006/math">
                    <m:r>
                      <m:t>b</m:t>
                    </m:r>
                    <m:r>
                      <m:rPr>
                        <m:sty m:val="p"/>
                      </m:rPr>
                      <m:t>≠</m:t>
                    </m:r>
                    <m:r>
                      <m:t>0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z</m:t>
                    </m:r>
                    <m:r>
                      <m:rPr>
                        <m:sty m:val="p"/>
                      </m:rPr>
                      <m:t>=</m:t>
                    </m:r>
                    <m:r>
                      <m:t>i</m:t>
                    </m:r>
                    <m:r>
                      <m:t>b</m:t>
                    </m:r>
                  </m:oMath>
                </a14:m>
                <a:r>
                  <a:rPr/>
                  <a:t> est un imaginaire pur (ex: </a:t>
                </a:r>
                <a14:m>
                  <m:oMath xmlns:m="http://schemas.openxmlformats.org/officeDocument/2006/math">
                    <m:r>
                      <m:t>z</m:t>
                    </m:r>
                    <m:r>
                      <m:rPr>
                        <m:sty m:val="p"/>
                      </m:rPr>
                      <m:t>=</m:t>
                    </m:r>
                    <m:r>
                      <m:t>3</m:t>
                    </m:r>
                    <m:r>
                      <m:t>i</m:t>
                    </m:r>
                  </m:oMath>
                </a14:m>
                <a:r>
                  <a:rPr/>
                  <a:t>).</a:t>
                </a:r>
              </a:p>
            </p:txBody>
          </p:sp>
        </mc:Choice>
      </mc:AlternateContent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Diapositive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Diapositive 2 : Représentation Géométrique et Conjugué Affixe d’un point ou d’un vecteur : Dans un repère orthonormal, le nombre </a:t>
                </a:r>
                <a14:m>
                  <m:oMath xmlns:m="http://schemas.openxmlformats.org/officeDocument/2006/math">
                    <m:r>
                      <m:t>z</m:t>
                    </m:r>
                    <m:r>
                      <m:rPr>
                        <m:sty m:val="p"/>
                      </m:rPr>
                      <m:t>=</m:t>
                    </m:r>
                    <m:r>
                      <m:t>3</m:t>
                    </m:r>
                    <m:r>
                      <m:rPr>
                        <m:sty m:val="p"/>
                      </m:rPr>
                      <m:t>+</m:t>
                    </m:r>
                    <m:r>
                      <m:t>4</m:t>
                    </m:r>
                    <m:r>
                      <m:t>i</m:t>
                    </m:r>
                  </m:oMath>
                </a14:m>
                <a:r>
                  <a:rPr/>
                  <a:t> est représenté par le point </a:t>
                </a:r>
                <a14:m>
                  <m:oMath xmlns:m="http://schemas.openxmlformats.org/officeDocument/2006/math">
                    <m:r>
                      <m:t>M</m:t>
                    </m:r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,</m:t>
                    </m:r>
                    <m:r>
                      <m:t>4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ou le vecteur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</m:accPr>
                      <m:e>
                        <m:r>
                          <m:t>u</m:t>
                        </m:r>
                      </m:e>
                    </m:acc>
                  </m:oMath>
                </a14:m>
                <a:r>
                  <a:rPr/>
                  <a:t> de coordonnées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(</m:t>
                    </m:r>
                    <m:r>
                      <m:t>3</m:t>
                    </m:r>
                    <m:r>
                      <m:rPr>
                        <m:sty m:val="p"/>
                      </m:rPr>
                      <m:t>,</m:t>
                    </m:r>
                    <m:r>
                      <m:t>4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. Conjugué d’un nombre complexe : Défini par 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z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i</m:t>
                    </m:r>
                    <m:r>
                      <m:t>b</m:t>
                    </m:r>
                  </m:oMath>
                </a14:m>
                <a:r>
                  <a:rPr/>
                  <a:t>. (ex: si </a:t>
                </a:r>
                <a14:m>
                  <m:oMath xmlns:m="http://schemas.openxmlformats.org/officeDocument/2006/math">
                    <m:r>
                      <m:t>z</m:t>
                    </m:r>
                    <m:r>
                      <m:rPr>
                        <m:sty m:val="p"/>
                      </m:rPr>
                      <m:t>=</m:t>
                    </m:r>
                    <m:r>
                      <m:t>3</m:t>
                    </m:r>
                    <m:r>
                      <m:rPr>
                        <m:sty m:val="p"/>
                      </m:rPr>
                      <m:t>+</m:t>
                    </m:r>
                    <m:r>
                      <m:t>4</m:t>
                    </m:r>
                    <m:r>
                      <m:t>i</m:t>
                    </m:r>
                  </m:oMath>
                </a14:m>
                <a:r>
                  <a:rPr/>
                  <a:t>, alors 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z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3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4</m:t>
                    </m:r>
                    <m:r>
                      <m:t>i</m:t>
                    </m:r>
                  </m:oMath>
                </a14:m>
                <a:r>
                  <a:rPr/>
                  <a:t>). Propriété géométrique : 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z</m:t>
                        </m:r>
                      </m:e>
                    </m:acc>
                  </m:oMath>
                </a14:m>
                <a:r>
                  <a:rPr/>
                  <a:t> est le symétrique de </a:t>
                </a:r>
                <a14:m>
                  <m:oMath xmlns:m="http://schemas.openxmlformats.org/officeDocument/2006/math">
                    <m:r>
                      <m:t>M</m:t>
                    </m:r>
                  </m:oMath>
                </a14:m>
                <a:r>
                  <a:rPr/>
                  <a:t> par rapport à l’axe réel. Module d’un nombre complexe : Noté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|</m:t>
                    </m:r>
                    <m:r>
                      <m:t>z</m:t>
                    </m:r>
                    <m:r>
                      <m:rPr>
                        <m:sty m:val="p"/>
                      </m:rPr>
                      <m:t>|</m:t>
                    </m:r>
                  </m:oMath>
                </a14:m>
                <a:r>
                  <a:rPr/>
                  <a:t>, il correspond à la distance </a:t>
                </a:r>
                <a14:m>
                  <m:oMath xmlns:m="http://schemas.openxmlformats.org/officeDocument/2006/math">
                    <m:r>
                      <m:t>O</m:t>
                    </m:r>
                    <m:r>
                      <m:t>M</m:t>
                    </m:r>
                  </m:oMath>
                </a14:m>
                <a:r>
                  <a:rPr/>
                  <a:t>. (ex: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|</m:t>
                    </m:r>
                    <m:r>
                      <m:t>3</m:t>
                    </m:r>
                    <m:r>
                      <m:rPr>
                        <m:sty m:val="p"/>
                      </m:rPr>
                      <m:t>+</m:t>
                    </m:r>
                    <m:r>
                      <m:t>4</m:t>
                    </m:r>
                    <m:r>
                      <m:t>i</m:t>
                    </m:r>
                    <m:r>
                      <m:rPr>
                        <m:sty m:val="p"/>
                      </m:rPr>
                      <m:t>|</m:t>
                    </m:r>
                    <m:r>
                      <m:rPr>
                        <m:sty m:val="p"/>
                      </m:rPr>
                      <m:t>=</m:t>
                    </m:r>
                    <m:rad>
                      <m:radPr>
                        <m:degHide m:val="on"/>
                      </m:radPr>
                      <m:deg/>
                      <m:e>
                        <m:sSup>
                          <m:e>
                            <m:r>
                              <m:t>3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sSup>
                          <m:e>
                            <m:r>
                              <m:t>4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m:t>=</m:t>
                    </m:r>
                    <m:r>
                      <m:t>5</m:t>
                    </m:r>
                  </m:oMath>
                </a14:m>
                <a:r>
                  <a:rPr/>
                  <a:t>).</a:t>
                </a:r>
              </a:p>
            </p:txBody>
          </p:sp>
        </mc:Choice>
      </mc:AlternateContent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Diapositive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Diapositive 3 : Forme Trigonométrique et Exponentielle Forme trigonométrique : </a:t>
                </a:r>
                <a14:m>
                  <m:oMath xmlns:m="http://schemas.openxmlformats.org/officeDocument/2006/math">
                    <m:r>
                      <m:t>z</m:t>
                    </m:r>
                    <m:r>
                      <m:rPr>
                        <m:sty m:val="p"/>
                      </m:rPr>
                      <m:t>=</m:t>
                    </m:r>
                    <m:r>
                      <m:t>r</m:t>
                    </m:r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cos</m:t>
                    </m:r>
                    <m:r>
                      <m:t>θ</m:t>
                    </m:r>
                    <m:r>
                      <m:rPr>
                        <m:sty m:val="p"/>
                      </m:rPr>
                      <m:t>+</m:t>
                    </m:r>
                    <m:r>
                      <m:t>i</m:t>
                    </m:r>
                    <m:r>
                      <m:rPr>
                        <m:sty m:val="p"/>
                      </m:rPr>
                      <m:t>sin</m:t>
                    </m:r>
                    <m:r>
                      <m:t>θ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avec </a:t>
                </a:r>
                <a14:m>
                  <m:oMath xmlns:m="http://schemas.openxmlformats.org/officeDocument/2006/math">
                    <m:r>
                      <m:t>r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|</m:t>
                    </m:r>
                    <m:r>
                      <m:t>z</m:t>
                    </m:r>
                    <m:r>
                      <m:rPr>
                        <m:sty m:val="p"/>
                      </m:rPr>
                      <m:t>|</m:t>
                    </m:r>
                  </m:oMath>
                </a14:m>
                <a:r>
                  <a:rPr/>
                  <a:t> et </a:t>
                </a:r>
                <a14:m>
                  <m:oMath xmlns:m="http://schemas.openxmlformats.org/officeDocument/2006/math">
                    <m:r>
                      <m:t>θ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arg</m:t>
                    </m:r>
                    <m:r>
                      <m:rPr>
                        <m:sty m:val="p"/>
                      </m:rPr>
                      <m:t>(</m:t>
                    </m:r>
                    <m:r>
                      <m:t>z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 (argument modulo </a:t>
                </a:r>
                <a14:m>
                  <m:oMath xmlns:m="http://schemas.openxmlformats.org/officeDocument/2006/math">
                    <m:r>
                      <m:t>2</m:t>
                    </m:r>
                    <m:r>
                      <m:t>π</m:t>
                    </m:r>
                  </m:oMath>
                </a14:m>
                <a:r>
                  <a:rPr/>
                  <a:t>). (ex: pour </a:t>
                </a:r>
                <a14:m>
                  <m:oMath xmlns:m="http://schemas.openxmlformats.org/officeDocument/2006/math">
                    <m:r>
                      <m:t>z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t>i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r</m:t>
                    </m:r>
                    <m:r>
                      <m:rPr>
                        <m:sty m:val="p"/>
                      </m:rPr>
                      <m:t>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2</m:t>
                        </m:r>
                      </m:e>
                    </m:rad>
                  </m:oMath>
                </a14:m>
                <a:r>
                  <a:rPr/>
                  <a:t> et </a:t>
                </a:r>
                <a14:m>
                  <m:oMath xmlns:m="http://schemas.openxmlformats.org/officeDocument/2006/math">
                    <m:r>
                      <m:t>θ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4</m:t>
                        </m:r>
                      </m:den>
                    </m:f>
                  </m:oMath>
                </a14:m>
                <a:r>
                  <a:rPr/>
                  <a:t>, donc </a:t>
                </a:r>
                <a14:m>
                  <m:oMath xmlns:m="http://schemas.openxmlformats.org/officeDocument/2006/math">
                    <m:r>
                      <m:t>z</m:t>
                    </m:r>
                    <m:r>
                      <m:rPr>
                        <m:sty m:val="p"/>
                      </m:rPr>
                      <m:t>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m:t>(</m:t>
                    </m:r>
                    <m:r>
                      <m:rPr>
                        <m:sty m:val="p"/>
                      </m:rPr>
                      <m:t>cos</m:t>
                    </m:r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m:t>+</m:t>
                    </m:r>
                    <m:r>
                      <m:t>i</m:t>
                    </m:r>
                    <m:r>
                      <m:rPr>
                        <m:sty m:val="p"/>
                      </m:rPr>
                      <m:t>sin</m:t>
                    </m:r>
                    <m:f>
                      <m:fPr>
                        <m:type m:val="bar"/>
                      </m:fPr>
                      <m:num>
                        <m:r>
                          <m:t>π</m:t>
                        </m:r>
                      </m:num>
                      <m:den>
                        <m: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). Forme exponentielle : </a:t>
                </a:r>
                <a14:m>
                  <m:oMath xmlns:m="http://schemas.openxmlformats.org/officeDocument/2006/math">
                    <m:r>
                      <m:t>z</m:t>
                    </m:r>
                    <m:r>
                      <m:rPr>
                        <m:sty m:val="p"/>
                      </m:rPr>
                      <m:t>=</m:t>
                    </m:r>
                    <m:r>
                      <m:t>r</m:t>
                    </m:r>
                    <m:sSup>
                      <m:e>
                        <m:r>
                          <m:t>e</m:t>
                        </m:r>
                      </m:e>
                      <m:sup>
                        <m:r>
                          <m:t>i</m:t>
                        </m:r>
                        <m:r>
                          <m:t>θ</m:t>
                        </m:r>
                      </m:sup>
                    </m:sSup>
                  </m:oMath>
                </a14:m>
                <a:r>
                  <a:rPr/>
                  <a:t>. (ex: </a:t>
                </a:r>
                <a14:m>
                  <m:oMath xmlns:m="http://schemas.openxmlformats.org/officeDocument/2006/math">
                    <m:r>
                      <m:t>1</m:t>
                    </m:r>
                    <m:r>
                      <m:rPr>
                        <m:sty m:val="p"/>
                      </m:rPr>
                      <m:t>+</m:t>
                    </m:r>
                    <m:r>
                      <m:t>i</m:t>
                    </m:r>
                    <m:r>
                      <m:rPr>
                        <m:sty m:val="p"/>
                      </m:rPr>
                      <m:t>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t>2</m:t>
                        </m:r>
                      </m:e>
                    </m:rad>
                    <m:sSup>
                      <m:e>
                        <m:r>
                          <m:t>e</m:t>
                        </m:r>
                      </m:e>
                      <m:sup>
                        <m:r>
                          <m:t>i</m:t>
                        </m:r>
                        <m:f>
                          <m:fPr>
                            <m:type m:val="bar"/>
                          </m:fPr>
                          <m:num>
                            <m:r>
                              <m:t>π</m:t>
                            </m:r>
                          </m:num>
                          <m:den>
                            <m:r>
                              <m:t>4</m:t>
                            </m:r>
                          </m:den>
                        </m:f>
                      </m:sup>
                    </m:sSup>
                  </m:oMath>
                </a14:m>
                <a:r>
                  <a:rPr/>
                  <a:t>). Très utile pour simplifier les multiplications et les puissances (formule de Moivre).</a:t>
                </a:r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Diapositive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Diapositive 4 : Applications et Résolution d’Équations Équations du second degré : Dans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m:t>C</m:t>
                    </m:r>
                  </m:oMath>
                </a14:m>
                <a:r>
                  <a:rPr/>
                  <a:t>, toute équation </a:t>
                </a:r>
                <a14:m>
                  <m:oMath xmlns:m="http://schemas.openxmlformats.org/officeDocument/2006/math">
                    <m:r>
                      <m:t>a</m:t>
                    </m:r>
                    <m:sSup>
                      <m:e>
                        <m:r>
                          <m:t>z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b</m:t>
                    </m:r>
                    <m:r>
                      <m:t>z</m:t>
                    </m:r>
                    <m:r>
                      <m:rPr>
                        <m:sty m:val="p"/>
                      </m:rPr>
                      <m:t>+</m:t>
                    </m:r>
                    <m:r>
                      <m:t>c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 (avec </a:t>
                </a:r>
                <a14:m>
                  <m:oMath xmlns:m="http://schemas.openxmlformats.org/officeDocument/2006/math">
                    <m:r>
                      <m:t>a</m:t>
                    </m:r>
                    <m:r>
                      <m:rPr>
                        <m:sty m:val="p"/>
                      </m:rPr>
                      <m:t>≠</m:t>
                    </m:r>
                    <m:r>
                      <m:t>0</m:t>
                    </m:r>
                  </m:oMath>
                </a14:m>
                <a:r>
                  <a:rPr/>
                  <a:t>) admet des solutions, même si le discriminant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0</m:t>
                    </m:r>
                  </m:oMath>
                </a14:m>
                <a:r>
                  <a:rPr/>
                  <a:t>. Si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Δ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4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0</m:t>
                    </m:r>
                  </m:oMath>
                </a14:m>
                <a:r>
                  <a:rPr/>
                  <a:t>, les solutions complexes conjuguées sont par exemple pour </a:t>
                </a:r>
                <a14:m>
                  <m:oMath xmlns:m="http://schemas.openxmlformats.org/officeDocument/2006/math">
                    <m:sSup>
                      <m:e>
                        <m:r>
                          <m:t>z</m:t>
                        </m:r>
                      </m:e>
                      <m:sup>
                        <m: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m:t>+</m:t>
                    </m:r>
                    <m:r>
                      <m:t>1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 : </a:t>
                </a:r>
                <a14:m>
                  <m:oMath xmlns:m="http://schemas.openxmlformats.org/officeDocument/2006/math">
                    <m:sSub>
                      <m:e>
                        <m:r>
                          <m:t>z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i</m:t>
                    </m:r>
                  </m:oMath>
                </a14:m>
                <a:r>
                  <a:rPr/>
                  <a:t> et </a:t>
                </a:r>
                <a14:m>
                  <m:oMath xmlns:m="http://schemas.openxmlformats.org/officeDocument/2006/math">
                    <m:sSub>
                      <m:e>
                        <m:r>
                          <m:t>z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i</m:t>
                    </m:r>
                  </m:oMath>
                </a14:m>
                <a:r>
                  <a:rPr/>
                  <a:t>. Conclusion : Un pont magnifique entre algèbre, géométrie et trigonométrie ! 🎯</a:t>
                </a:r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2026-10-30T02:49:56Z</dcterms:created>
  <dcterms:modified xsi:type="dcterms:W3CDTF">2026-10-30T02:49:56Z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